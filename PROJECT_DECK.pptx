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753600" cy="7315200"/>
  <p:notesSz cx="6858000" cy="9144000"/>
  <p:embeddedFontLst>
    <p:embeddedFont>
      <p:font typeface="Calibri (MS) Bold" charset="1" panose="020F0702030404030204"/>
      <p:regular r:id="rId22"/>
    </p:embeddedFont>
    <p:embeddedFont>
      <p:font typeface="Calibri (MS) Italics" charset="1" panose="020F05020202040A0204"/>
      <p:regular r:id="rId23"/>
    </p:embeddedFont>
    <p:embeddedFont>
      <p:font typeface="Calibri (MS)" charset="1" panose="020F0502020204030204"/>
      <p:regular r:id="rId24"/>
    </p:embeddedFont>
    <p:embeddedFont>
      <p:font typeface="Roboto" charset="1" panose="02000000000000000000"/>
      <p:regular r:id="rId25"/>
    </p:embeddedFont>
    <p:embeddedFont>
      <p:font typeface="Calibri (MS) Bold Italics" charset="1" panose="020F07020304040A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1520" y="2272453"/>
            <a:ext cx="8290560" cy="1568027"/>
            <a:chOff x="0" y="0"/>
            <a:chExt cx="11054080" cy="20907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54080" cy="2090702"/>
            </a:xfrm>
            <a:custGeom>
              <a:avLst/>
              <a:gdLst/>
              <a:ahLst/>
              <a:cxnLst/>
              <a:rect r="r" b="b" t="t" l="l"/>
              <a:pathLst>
                <a:path h="2090702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090702"/>
                  </a:lnTo>
                  <a:lnTo>
                    <a:pt x="0" y="20907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11054080" cy="2185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 Stress Detection System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80052" y="3602355"/>
            <a:ext cx="664464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559" i="true">
                <a:solidFill>
                  <a:srgbClr val="34495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Using Ensemble Machine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68240" y="6356985"/>
            <a:ext cx="371856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"/>
              </a:lnSpc>
            </a:pPr>
            <a:r>
              <a:rPr lang="en-US" sz="1279">
                <a:solidFill>
                  <a:srgbClr val="7F8C8D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                                  Khushi Pandey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23670" y="1837901"/>
            <a:ext cx="8595360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</a:p>
          <a:p>
            <a:pPr algn="l" marL="245375" indent="-122688" lvl="1">
              <a:lnSpc>
                <a:spcPts val="2287"/>
              </a:lnSpc>
              <a:buFont typeface="Arial"/>
              <a:buChar char="•"/>
            </a:pPr>
            <a:r>
              <a:rPr lang="en-US" sz="1906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Student stress is a critical concern affecting academic performance and well-being</a:t>
            </a:r>
          </a:p>
          <a:p>
            <a:pPr algn="l" marL="245375" indent="-122688" lvl="1">
              <a:lnSpc>
                <a:spcPts val="2287"/>
              </a:lnSpc>
              <a:buFont typeface="Arial"/>
              <a:buChar char="•"/>
            </a:pPr>
            <a:r>
              <a:rPr lang="en-US" sz="1906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Traditional assessment methods are time-consuming and subjective</a:t>
            </a:r>
          </a:p>
          <a:p>
            <a:pPr algn="l" marL="245375" indent="-122688" lvl="1">
              <a:lnSpc>
                <a:spcPts val="2287"/>
              </a:lnSpc>
              <a:buFont typeface="Arial"/>
              <a:buChar char="•"/>
            </a:pPr>
            <a:r>
              <a:rPr lang="en-US" sz="1906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Need for early detection and proactive intervention</a:t>
            </a:r>
          </a:p>
          <a:p>
            <a:pPr algn="l" marL="245375" indent="-122688" lvl="1">
              <a:lnSpc>
                <a:spcPts val="2287"/>
              </a:lnSpc>
              <a:buFont typeface="Arial"/>
              <a:buChar char="•"/>
            </a:pPr>
            <a:r>
              <a:rPr lang="en-US" sz="1906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Machine learning offers automated, data-driven stress prediction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Objectives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70560" y="1821934"/>
            <a:ext cx="859536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b="true" sz="2293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Develop accurate ML system for stress level classification</a:t>
            </a: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sz="22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 multiple algorithms to identify best approach</a:t>
            </a: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sz="22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 ensemble learning for improved robustness</a:t>
            </a: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sz="22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user-friendly web application for real-time predictions</a:t>
            </a: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sz="22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 actionable recommendations for stress management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Overview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9120" y="1704975"/>
            <a:ext cx="8595360" cy="2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b="true" sz="2293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Synthetic dataset: 10,000 student records</a:t>
            </a: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sz="22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10 features: study hours, sleep, exercise, social activities, deadlines, exam pressure, family support, financial stress, academic performance, workload</a:t>
            </a: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sz="22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Target variable: Stress level (Low, Medium, High)</a:t>
            </a: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sz="22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Train-Test Split: 80-20 with stratification</a:t>
            </a: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sz="22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Balanced using SMOTE to handle class imbalance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9120" y="476250"/>
            <a:ext cx="8595360" cy="74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Features Analyzed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3976" y="1772793"/>
            <a:ext cx="248004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58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Study Hours (0-12 hrs/day)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3976" y="2162937"/>
            <a:ext cx="254569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58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Sleep Hours (3-10 hrs/night)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3976" y="2553081"/>
            <a:ext cx="26765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58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Exercise Hours (0-10 hrs/week)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3976" y="2943225"/>
            <a:ext cx="249409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58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Social Activities (0-7/week)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3976" y="3333369"/>
            <a:ext cx="256976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58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Assignment Deadlines (0-10)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22111" y="1772793"/>
            <a:ext cx="255340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58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Exam Pressure (1-10 scale)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22111" y="2162937"/>
            <a:ext cx="257814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58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Family Support (1-10 scale)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22111" y="2553081"/>
            <a:ext cx="25934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58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Financial Stress (1-10 scale)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22111" y="2943225"/>
            <a:ext cx="27626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58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Academic Performance (0-100)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22111" y="3333369"/>
            <a:ext cx="25937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58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Workload Level (1-10 scale)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Preprocessing Pipeline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1520" y="2247239"/>
            <a:ext cx="8595360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</a:p>
          <a:p>
            <a:pPr algn="l">
              <a:lnSpc>
                <a:spcPts val="2767"/>
              </a:lnSpc>
            </a:pPr>
            <a:r>
              <a:rPr lang="en-US" sz="2306" b="true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Cleaning</a:t>
            </a:r>
            <a:r>
              <a:rPr lang="en-US" sz="230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: Remove missing values, duplicates, and outliers (IQR method)</a:t>
            </a:r>
          </a:p>
          <a:p>
            <a:pPr algn="l">
              <a:lnSpc>
                <a:spcPts val="2767"/>
              </a:lnSpc>
            </a:pPr>
            <a:r>
              <a:rPr lang="en-US" sz="2306" b="true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Balancing</a:t>
            </a:r>
            <a:r>
              <a:rPr lang="en-US" sz="230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: Apply SMOTE to address class imbalance</a:t>
            </a:r>
          </a:p>
          <a:p>
            <a:pPr algn="l">
              <a:lnSpc>
                <a:spcPts val="2767"/>
              </a:lnSpc>
            </a:pPr>
            <a:r>
              <a:rPr lang="en-US" sz="2306" b="true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Scaling</a:t>
            </a:r>
            <a:r>
              <a:rPr lang="en-US" sz="230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: StandardScaler for normalization</a:t>
            </a:r>
          </a:p>
          <a:p>
            <a:pPr algn="l">
              <a:lnSpc>
                <a:spcPts val="2767"/>
              </a:lnSpc>
            </a:pPr>
            <a:r>
              <a:rPr lang="en-US" sz="2306" b="true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Label Encoding</a:t>
            </a:r>
            <a:r>
              <a:rPr lang="en-US" sz="230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: Convert categorical target to numerical</a:t>
            </a:r>
          </a:p>
          <a:p>
            <a:pPr algn="l">
              <a:lnSpc>
                <a:spcPts val="2767"/>
              </a:lnSpc>
            </a:pPr>
            <a:r>
              <a:rPr lang="en-US" sz="2306" b="true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Train-Test Split</a:t>
            </a:r>
            <a:r>
              <a:rPr lang="en-US" sz="230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: 80-20 stratified split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 Models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9120" y="1714500"/>
            <a:ext cx="4124960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1"/>
              </a:lnSpc>
            </a:pPr>
          </a:p>
          <a:p>
            <a:pPr algn="l" marL="230789" indent="-115394" lvl="1">
              <a:lnSpc>
                <a:spcPts val="2151"/>
              </a:lnSpc>
              <a:buFont typeface="Arial"/>
              <a:buChar char="•"/>
            </a:pPr>
            <a:r>
              <a:rPr lang="en-US" sz="1793" i="true">
                <a:solidFill>
                  <a:srgbClr val="2C3E5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Logistic Regression</a:t>
            </a:r>
            <a:r>
              <a:rPr lang="en-US" sz="17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 - Interpretable baseline model</a:t>
            </a:r>
          </a:p>
          <a:p>
            <a:pPr algn="l" marL="230789" indent="-115394" lvl="1">
              <a:lnSpc>
                <a:spcPts val="2151"/>
              </a:lnSpc>
              <a:buFont typeface="Arial"/>
              <a:buChar char="•"/>
            </a:pPr>
            <a:r>
              <a:rPr lang="en-US" sz="1793" i="true">
                <a:solidFill>
                  <a:srgbClr val="2C3E5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Support Vector Machine</a:t>
            </a:r>
            <a:r>
              <a:rPr lang="en-US" sz="17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 (SVM) - Non-linear classification</a:t>
            </a:r>
          </a:p>
          <a:p>
            <a:pPr algn="l" marL="230789" indent="-115394" lvl="1">
              <a:lnSpc>
                <a:spcPts val="2151"/>
              </a:lnSpc>
              <a:buFont typeface="Arial"/>
              <a:buChar char="•"/>
            </a:pPr>
            <a:r>
              <a:rPr lang="en-US" sz="1793" i="true">
                <a:solidFill>
                  <a:srgbClr val="2C3E5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Naive Bayes</a:t>
            </a:r>
            <a:r>
              <a:rPr lang="en-US" sz="17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 - Fast probabilistic classifier</a:t>
            </a:r>
          </a:p>
          <a:p>
            <a:pPr algn="l" marL="230789" indent="-115394" lvl="1">
              <a:lnSpc>
                <a:spcPts val="2151"/>
              </a:lnSpc>
              <a:buFont typeface="Arial"/>
              <a:buChar char="•"/>
            </a:pPr>
            <a:r>
              <a:rPr lang="en-US" sz="1793" i="true">
                <a:solidFill>
                  <a:srgbClr val="2C3E5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Random Forest</a:t>
            </a:r>
            <a:r>
              <a:rPr lang="en-US" sz="17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 - Captures complex feature interactions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9520" y="1714500"/>
            <a:ext cx="412496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1"/>
              </a:lnSpc>
            </a:pPr>
          </a:p>
          <a:p>
            <a:pPr algn="l" marL="230789" indent="-115394" lvl="1">
              <a:lnSpc>
                <a:spcPts val="2151"/>
              </a:lnSpc>
              <a:buFont typeface="Arial"/>
              <a:buChar char="•"/>
            </a:pPr>
            <a:r>
              <a:rPr lang="en-US" sz="17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Ensemble (Voting Classifier) - Combines all models</a:t>
            </a:r>
          </a:p>
          <a:p>
            <a:pPr algn="l" marL="230789" indent="-115394" lvl="1">
              <a:lnSpc>
                <a:spcPts val="2151"/>
              </a:lnSpc>
              <a:buFont typeface="Arial"/>
              <a:buChar char="•"/>
            </a:pPr>
            <a:r>
              <a:rPr lang="en-US" sz="17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Soft Voting - Uses probability predictions</a:t>
            </a:r>
          </a:p>
          <a:p>
            <a:pPr algn="l" marL="230789" indent="-115394" lvl="1">
              <a:lnSpc>
                <a:spcPts val="2151"/>
              </a:lnSpc>
              <a:buFont typeface="Arial"/>
              <a:buChar char="•"/>
            </a:pPr>
            <a:r>
              <a:rPr lang="en-US" sz="17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Improved robustness and generalization</a:t>
            </a:r>
          </a:p>
          <a:p>
            <a:pPr algn="l" marL="230789" indent="-115394" lvl="1">
              <a:lnSpc>
                <a:spcPts val="2151"/>
              </a:lnSpc>
              <a:buFont typeface="Arial"/>
              <a:buChar char="•"/>
            </a:pPr>
            <a:r>
              <a:rPr lang="en-US" sz="17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Reduced overfitting risk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Ensemble Model?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1520" y="1876205"/>
            <a:ext cx="8595360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1"/>
              </a:lnSpc>
            </a:pPr>
          </a:p>
          <a:p>
            <a:pPr algn="l" marL="308003" indent="-154002" lvl="1">
              <a:lnSpc>
                <a:spcPts val="2871"/>
              </a:lnSpc>
              <a:buFont typeface="Arial"/>
              <a:buChar char="•"/>
            </a:pPr>
            <a:r>
              <a:rPr lang="en-US" sz="23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Combines strengths of diverse algorithms</a:t>
            </a:r>
          </a:p>
          <a:p>
            <a:pPr algn="l" marL="308003" indent="-154002" lvl="1">
              <a:lnSpc>
                <a:spcPts val="2871"/>
              </a:lnSpc>
              <a:buFont typeface="Arial"/>
              <a:buChar char="•"/>
            </a:pPr>
            <a:r>
              <a:rPr lang="en-US" sz="23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Better generalization than individual models</a:t>
            </a:r>
          </a:p>
          <a:p>
            <a:pPr algn="l" marL="308003" indent="-154002" lvl="1">
              <a:lnSpc>
                <a:spcPts val="2871"/>
              </a:lnSpc>
              <a:buFont typeface="Arial"/>
              <a:buChar char="•"/>
            </a:pPr>
            <a:r>
              <a:rPr lang="en-US" sz="23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variance and overfitting</a:t>
            </a:r>
          </a:p>
          <a:p>
            <a:pPr algn="l" marL="308003" indent="-154002" lvl="1">
              <a:lnSpc>
                <a:spcPts val="2871"/>
              </a:lnSpc>
              <a:buFont typeface="Arial"/>
              <a:buChar char="•"/>
            </a:pPr>
            <a:r>
              <a:rPr lang="en-US" sz="23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More robust to data variations</a:t>
            </a:r>
          </a:p>
          <a:p>
            <a:pPr algn="l" marL="308003" indent="-154002" lvl="1">
              <a:lnSpc>
                <a:spcPts val="2871"/>
              </a:lnSpc>
              <a:buFont typeface="Arial"/>
              <a:buChar char="•"/>
            </a:pPr>
            <a:r>
              <a:rPr lang="en-US" sz="23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probability estimates for uncertainty quantification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b="true" sz="3413" u="sng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Performance (Test Accuracy)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9120" y="1695450"/>
            <a:ext cx="8595360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9"/>
              </a:lnSpc>
            </a:pPr>
          </a:p>
          <a:p>
            <a:pPr algn="l" marL="416105" indent="-208053" lvl="1">
              <a:lnSpc>
                <a:spcPts val="3879"/>
              </a:lnSpc>
              <a:buFont typeface="Arial"/>
              <a:buChar char="•"/>
            </a:pPr>
            <a:r>
              <a:rPr lang="en-US" sz="3233">
                <a:solidFill>
                  <a:srgbClr val="34495E"/>
                </a:solidFill>
                <a:latin typeface="Calibri (MS)"/>
                <a:ea typeface="Calibri (MS)"/>
                <a:cs typeface="Calibri (MS)"/>
                <a:sym typeface="Calibri (MS)"/>
              </a:rPr>
              <a:t>Logistic Regression: 89.11%</a:t>
            </a:r>
          </a:p>
          <a:p>
            <a:pPr algn="l" marL="416105" indent="-208053" lvl="1">
              <a:lnSpc>
                <a:spcPts val="3879"/>
              </a:lnSpc>
              <a:buFont typeface="Arial"/>
              <a:buChar char="•"/>
            </a:pPr>
            <a:r>
              <a:rPr lang="en-US" sz="3233">
                <a:solidFill>
                  <a:srgbClr val="34495E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 Vector Machine: 90.99%</a:t>
            </a:r>
          </a:p>
          <a:p>
            <a:pPr algn="l" marL="416105" indent="-208053" lvl="1">
              <a:lnSpc>
                <a:spcPts val="3879"/>
              </a:lnSpc>
              <a:buFont typeface="Arial"/>
              <a:buChar char="•"/>
            </a:pPr>
            <a:r>
              <a:rPr lang="en-US" sz="3233">
                <a:solidFill>
                  <a:srgbClr val="34495E"/>
                </a:solidFill>
                <a:latin typeface="Calibri (MS)"/>
                <a:ea typeface="Calibri (MS)"/>
                <a:cs typeface="Calibri (MS)"/>
                <a:sym typeface="Calibri (MS)"/>
              </a:rPr>
              <a:t>Naive Bayes: 83.98%</a:t>
            </a:r>
          </a:p>
          <a:p>
            <a:pPr algn="l" marL="416105" indent="-208053" lvl="1">
              <a:lnSpc>
                <a:spcPts val="3879"/>
              </a:lnSpc>
              <a:buFont typeface="Arial"/>
              <a:buChar char="•"/>
            </a:pPr>
            <a:r>
              <a:rPr lang="en-US" sz="3233">
                <a:solidFill>
                  <a:srgbClr val="34495E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Forest: 93.20%</a:t>
            </a:r>
          </a:p>
          <a:p>
            <a:pPr algn="l" marL="416105" indent="-208053" lvl="1">
              <a:lnSpc>
                <a:spcPts val="3879"/>
              </a:lnSpc>
              <a:buFont typeface="Arial"/>
              <a:buChar char="•"/>
            </a:pPr>
            <a:r>
              <a:rPr lang="en-US" b="true" sz="3233">
                <a:solidFill>
                  <a:srgbClr val="27AE6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Ensemble Model (Selected): 91.36%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b="true" sz="3413" u="sng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Analysis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1520" y="2133377"/>
            <a:ext cx="8595360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b="true" sz="2293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Ensemble model achieves 91.36% accuracy</a:t>
            </a: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sz="22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Strong separation between Low and Medium stress levels</a:t>
            </a: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sz="22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Some confusion between Medium and High stress (improvement area)</a:t>
            </a: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sz="22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High stress occasionally misclassified as Low (critical for intervention)</a:t>
            </a:r>
          </a:p>
          <a:p>
            <a:pPr algn="l" marL="295134" indent="-147567" lvl="1">
              <a:lnSpc>
                <a:spcPts val="2751"/>
              </a:lnSpc>
              <a:buFont typeface="Arial"/>
              <a:buChar char="•"/>
            </a:pPr>
            <a:r>
              <a:rPr lang="en-US" sz="22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provides probability distributions for each class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b="true" sz="3413" u="sng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Feature Insights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9120" y="1704975"/>
            <a:ext cx="4124960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1"/>
              </a:lnSpc>
            </a:pPr>
          </a:p>
          <a:p>
            <a:pPr algn="l" marL="256527" indent="-128263" lvl="1">
              <a:lnSpc>
                <a:spcPts val="2391"/>
              </a:lnSpc>
              <a:buFont typeface="Arial"/>
              <a:buChar char="•"/>
            </a:pPr>
            <a:r>
              <a:rPr lang="en-US" sz="19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Sleep Hours - Highest impact (inverse correlation)</a:t>
            </a:r>
          </a:p>
          <a:p>
            <a:pPr algn="l" marL="256527" indent="-128263" lvl="1">
              <a:lnSpc>
                <a:spcPts val="2391"/>
              </a:lnSpc>
              <a:buFont typeface="Arial"/>
              <a:buChar char="•"/>
            </a:pPr>
            <a:r>
              <a:rPr lang="en-US" sz="19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Exam Pressure - Major stress contributor</a:t>
            </a:r>
          </a:p>
          <a:p>
            <a:pPr algn="l" marL="256527" indent="-128263" lvl="1">
              <a:lnSpc>
                <a:spcPts val="2391"/>
              </a:lnSpc>
              <a:buFont typeface="Arial"/>
              <a:buChar char="•"/>
            </a:pPr>
            <a:r>
              <a:rPr lang="en-US" sz="19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Financial Stress - Significant factor</a:t>
            </a:r>
          </a:p>
          <a:p>
            <a:pPr algn="l" marL="256527" indent="-128263" lvl="1">
              <a:lnSpc>
                <a:spcPts val="2391"/>
              </a:lnSpc>
              <a:buFont typeface="Arial"/>
              <a:buChar char="•"/>
            </a:pPr>
            <a:r>
              <a:rPr lang="en-US" sz="19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Assignment Deadlines - Time pressure increases stress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49520" y="1704975"/>
            <a:ext cx="4124960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1"/>
              </a:lnSpc>
            </a:pPr>
          </a:p>
          <a:p>
            <a:pPr algn="l" marL="256527" indent="-128263" lvl="1">
              <a:lnSpc>
                <a:spcPts val="2391"/>
              </a:lnSpc>
              <a:buFont typeface="Arial"/>
              <a:buChar char="•"/>
            </a:pPr>
            <a:r>
              <a:rPr lang="en-US" sz="19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Exercise Hours - Protective factor (reduces stress)</a:t>
            </a:r>
          </a:p>
          <a:p>
            <a:pPr algn="l" marL="256527" indent="-128263" lvl="1">
              <a:lnSpc>
                <a:spcPts val="2391"/>
              </a:lnSpc>
              <a:buFont typeface="Arial"/>
              <a:buChar char="•"/>
            </a:pPr>
            <a:r>
              <a:rPr lang="en-US" sz="19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Social Activities - Negative correlation with stress</a:t>
            </a:r>
          </a:p>
          <a:p>
            <a:pPr algn="l" marL="256527" indent="-128263" lvl="1">
              <a:lnSpc>
                <a:spcPts val="2391"/>
              </a:lnSpc>
              <a:buFont typeface="Arial"/>
              <a:buChar char="•"/>
            </a:pPr>
            <a:r>
              <a:rPr lang="en-US" sz="19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Family Support - Reduces stress levels</a:t>
            </a:r>
          </a:p>
          <a:p>
            <a:pPr algn="l" marL="256527" indent="-128263" lvl="1">
              <a:lnSpc>
                <a:spcPts val="2391"/>
              </a:lnSpc>
              <a:buFont typeface="Arial"/>
              <a:buChar char="•"/>
            </a:pPr>
            <a:r>
              <a:rPr lang="en-US" sz="19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Workload Level - Strong predictor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b="true" sz="3413" u="sng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9120" y="1704975"/>
            <a:ext cx="8595360" cy="338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7"/>
              </a:lnSpc>
            </a:pPr>
          </a:p>
          <a:p>
            <a:pPr algn="l" marL="283889" indent="-141944" lvl="1">
              <a:lnSpc>
                <a:spcPts val="2647"/>
              </a:lnSpc>
              <a:buFont typeface="Arial"/>
              <a:buChar char="•"/>
            </a:pPr>
            <a:r>
              <a:rPr lang="en-US" sz="220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Data Layer: </a:t>
            </a:r>
            <a:r>
              <a:rPr lang="en-US" b="true" sz="2206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Generation  →     Storage   →   Loading</a:t>
            </a:r>
          </a:p>
          <a:p>
            <a:pPr algn="l">
              <a:lnSpc>
                <a:spcPts val="2647"/>
              </a:lnSpc>
            </a:pPr>
          </a:p>
          <a:p>
            <a:pPr algn="l" marL="283889" indent="-141944" lvl="1">
              <a:lnSpc>
                <a:spcPts val="2647"/>
              </a:lnSpc>
              <a:buFont typeface="Arial"/>
              <a:buChar char="•"/>
            </a:pPr>
            <a:r>
              <a:rPr lang="en-US" sz="220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Preprocessing Layer:     </a:t>
            </a:r>
            <a:r>
              <a:rPr lang="en-US" b="true" sz="2206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Cleaning    →    Balancing   →   Scaling</a:t>
            </a:r>
          </a:p>
          <a:p>
            <a:pPr algn="l">
              <a:lnSpc>
                <a:spcPts val="2647"/>
              </a:lnSpc>
            </a:pPr>
          </a:p>
          <a:p>
            <a:pPr algn="l" marL="283889" indent="-141944" lvl="1">
              <a:lnSpc>
                <a:spcPts val="2647"/>
              </a:lnSpc>
              <a:buFont typeface="Arial"/>
              <a:buChar char="•"/>
            </a:pPr>
            <a:r>
              <a:rPr lang="en-US" sz="220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Layer:      </a:t>
            </a:r>
            <a:r>
              <a:rPr lang="en-US" b="true" sz="2206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Training   →   Ensemble   →   Persistence</a:t>
            </a:r>
          </a:p>
          <a:p>
            <a:pPr algn="l">
              <a:lnSpc>
                <a:spcPts val="2647"/>
              </a:lnSpc>
            </a:pPr>
          </a:p>
          <a:p>
            <a:pPr algn="l" marL="283889" indent="-141944" lvl="1">
              <a:lnSpc>
                <a:spcPts val="2647"/>
              </a:lnSpc>
              <a:buFont typeface="Arial"/>
              <a:buChar char="•"/>
            </a:pPr>
            <a:r>
              <a:rPr lang="en-US" sz="220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Evaluation Layer: </a:t>
            </a:r>
            <a:r>
              <a:rPr lang="en-US" b="true" sz="2206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Metrics   →   Visualizations   →   Reports</a:t>
            </a:r>
          </a:p>
          <a:p>
            <a:pPr algn="l">
              <a:lnSpc>
                <a:spcPts val="2647"/>
              </a:lnSpc>
            </a:pPr>
          </a:p>
          <a:p>
            <a:pPr algn="l" marL="283982" indent="-141991" lvl="1">
              <a:lnSpc>
                <a:spcPts val="2647"/>
              </a:lnSpc>
              <a:buFont typeface="Arial"/>
              <a:buChar char="•"/>
            </a:pPr>
            <a:r>
              <a:rPr lang="en-US" sz="2206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Application Layer: </a:t>
            </a:r>
            <a:r>
              <a:rPr lang="en-US" b="true" sz="2206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Flask Web App    →    API    →   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b="true" sz="3413" i="true" u="sng">
                  <a:solidFill>
                    <a:srgbClr val="2C3E5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Web Application Features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9120" y="1685925"/>
            <a:ext cx="8595360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</a:pPr>
          </a:p>
          <a:p>
            <a:pPr algn="l" marL="398086" indent="-199043" lvl="1">
              <a:lnSpc>
                <a:spcPts val="3711"/>
              </a:lnSpc>
              <a:buFont typeface="Arial"/>
              <a:buChar char="•"/>
            </a:pPr>
            <a:r>
              <a:rPr lang="en-US" b="true" sz="3093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User-friendly input form for 10 features</a:t>
            </a:r>
          </a:p>
          <a:p>
            <a:pPr algn="l" marL="398086" indent="-199043" lvl="1">
              <a:lnSpc>
                <a:spcPts val="3711"/>
              </a:lnSpc>
              <a:buFont typeface="Arial"/>
              <a:buChar char="•"/>
            </a:pPr>
            <a:r>
              <a:rPr lang="en-US" sz="30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stress level prediction</a:t>
            </a:r>
          </a:p>
          <a:p>
            <a:pPr algn="l" marL="398086" indent="-199043" lvl="1">
              <a:lnSpc>
                <a:spcPts val="3711"/>
              </a:lnSpc>
              <a:buFont typeface="Arial"/>
              <a:buChar char="•"/>
            </a:pPr>
            <a:r>
              <a:rPr lang="en-US" sz="30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Probability distribution for each stress level</a:t>
            </a:r>
          </a:p>
          <a:p>
            <a:pPr algn="l" marL="398086" indent="-199043" lvl="1">
              <a:lnSpc>
                <a:spcPts val="3711"/>
              </a:lnSpc>
              <a:buFont typeface="Arial"/>
              <a:buChar char="•"/>
            </a:pPr>
            <a:r>
              <a:rPr lang="en-US" sz="30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Personalized motivational suggestions</a:t>
            </a:r>
          </a:p>
          <a:p>
            <a:pPr algn="l" marL="398086" indent="-199043" lvl="1">
              <a:lnSpc>
                <a:spcPts val="3711"/>
              </a:lnSpc>
              <a:buFont typeface="Arial"/>
              <a:buChar char="•"/>
            </a:pPr>
            <a:r>
              <a:rPr lang="en-US" sz="30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Responsive design for desktop and mobile</a:t>
            </a:r>
          </a:p>
          <a:p>
            <a:pPr algn="l" marL="398086" indent="-199043" lvl="1">
              <a:lnSpc>
                <a:spcPts val="3711"/>
              </a:lnSpc>
              <a:buFont typeface="Arial"/>
              <a:buChar char="•"/>
            </a:pPr>
            <a:r>
              <a:rPr lang="en-US" sz="30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RESTful API for programmatic access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b="true" sz="3413" i="true" u="sng">
                  <a:solidFill>
                    <a:srgbClr val="2C3E5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Challenges &amp; Solutions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06444" y="1988979"/>
            <a:ext cx="7140713" cy="328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2822" indent="-171411" lvl="1">
              <a:lnSpc>
                <a:spcPts val="3196"/>
              </a:lnSpc>
              <a:buFont typeface="Arial"/>
              <a:buChar char="•"/>
            </a:pPr>
            <a:r>
              <a:rPr lang="en-US" sz="266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Class Imbalance  →  SMOTE oversampling</a:t>
            </a:r>
          </a:p>
          <a:p>
            <a:pPr algn="l" marL="342822" indent="-171411" lvl="1">
              <a:lnSpc>
                <a:spcPts val="3196"/>
              </a:lnSpc>
              <a:buFont typeface="Arial"/>
              <a:buChar char="•"/>
            </a:pPr>
            <a:r>
              <a:rPr lang="en-US" sz="266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 Scaling  →  StandardScaler normalization</a:t>
            </a:r>
          </a:p>
          <a:p>
            <a:pPr algn="l" marL="342822" indent="-171411" lvl="1">
              <a:lnSpc>
                <a:spcPts val="3196"/>
              </a:lnSpc>
              <a:buFont typeface="Arial"/>
              <a:buChar char="•"/>
            </a:pPr>
            <a:r>
              <a:rPr lang="en-US" sz="266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Model Selection  →  Comprehensive comparison</a:t>
            </a:r>
          </a:p>
          <a:p>
            <a:pPr algn="l" marL="342709" indent="-171355" lvl="1">
              <a:lnSpc>
                <a:spcPts val="3196"/>
              </a:lnSpc>
              <a:buFont typeface="Arial"/>
              <a:buChar char="•"/>
            </a:pPr>
            <a:r>
              <a:rPr lang="en-US" sz="266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Overfitting  →  Ensemble approach</a:t>
            </a:r>
          </a:p>
          <a:p>
            <a:pPr algn="l" marL="342709" indent="-171355" lvl="1">
              <a:lnSpc>
                <a:spcPts val="3196"/>
              </a:lnSpc>
              <a:buFont typeface="Arial"/>
              <a:buChar char="•"/>
            </a:pPr>
            <a:r>
              <a:rPr lang="en-US" sz="266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Generalization  →  Cross-validation ready</a:t>
            </a:r>
          </a:p>
          <a:p>
            <a:pPr algn="l" marL="342709" indent="-171355" lvl="1">
              <a:lnSpc>
                <a:spcPts val="3196"/>
              </a:lnSpc>
              <a:buFont typeface="Arial"/>
              <a:buChar char="•"/>
            </a:pPr>
            <a:r>
              <a:rPr lang="en-US" sz="266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Interpretability  →  Feature importance analysis</a:t>
            </a:r>
          </a:p>
          <a:p>
            <a:pPr algn="l" marL="342709" indent="-171355" lvl="1">
              <a:lnSpc>
                <a:spcPts val="3196"/>
              </a:lnSpc>
              <a:buFont typeface="Arial"/>
              <a:buChar char="•"/>
            </a:pPr>
            <a:r>
              <a:rPr lang="en-US" sz="266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Deployment  →  Flask web framework</a:t>
            </a:r>
          </a:p>
          <a:p>
            <a:pPr algn="l" marL="342709" indent="-171355" lvl="1">
              <a:lnSpc>
                <a:spcPts val="3196"/>
              </a:lnSpc>
              <a:buFont typeface="Arial"/>
              <a:buChar char="•"/>
            </a:pPr>
            <a:r>
              <a:rPr lang="en-US" sz="266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User Experience  →  Intuitive interface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 b="true">
                  <a:solidFill>
                    <a:srgbClr val="2C3E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Enhancements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3038" y="1621022"/>
            <a:ext cx="8595360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</a:p>
          <a:p>
            <a:pPr algn="l" marL="333741" indent="-166871" lvl="1">
              <a:lnSpc>
                <a:spcPts val="3111"/>
              </a:lnSpc>
              <a:buFont typeface="Arial"/>
              <a:buChar char="•"/>
            </a:pPr>
            <a:r>
              <a:rPr lang="en-US" b="true" sz="2593">
                <a:solidFill>
                  <a:srgbClr val="2C3E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Validate on real-world student data</a:t>
            </a:r>
          </a:p>
          <a:p>
            <a:pPr algn="l" marL="333741" indent="-166871" lvl="1">
              <a:lnSpc>
                <a:spcPts val="3111"/>
              </a:lnSpc>
              <a:buFont typeface="Arial"/>
              <a:buChar char="•"/>
            </a:pPr>
            <a:r>
              <a:rPr lang="en-US" sz="25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Add temporal analysis for stress trends</a:t>
            </a:r>
          </a:p>
          <a:p>
            <a:pPr algn="l" marL="333741" indent="-166871" lvl="1">
              <a:lnSpc>
                <a:spcPts val="3111"/>
              </a:lnSpc>
              <a:buFont typeface="Arial"/>
              <a:buChar char="•"/>
            </a:pPr>
            <a:r>
              <a:rPr lang="en-US" sz="25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with Learning Management Systems</a:t>
            </a:r>
          </a:p>
          <a:p>
            <a:pPr algn="l" marL="333741" indent="-166871" lvl="1">
              <a:lnSpc>
                <a:spcPts val="3111"/>
              </a:lnSpc>
              <a:buFont typeface="Arial"/>
              <a:buChar char="•"/>
            </a:pPr>
            <a:r>
              <a:rPr lang="en-US" sz="25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 mobile application</a:t>
            </a:r>
          </a:p>
          <a:p>
            <a:pPr algn="l" marL="333741" indent="-166871" lvl="1">
              <a:lnSpc>
                <a:spcPts val="3111"/>
              </a:lnSpc>
              <a:buFont typeface="Arial"/>
              <a:buChar char="•"/>
            </a:pPr>
            <a:r>
              <a:rPr lang="en-US" sz="25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 deep learning models</a:t>
            </a:r>
          </a:p>
          <a:p>
            <a:pPr algn="l" marL="333741" indent="-166871" lvl="1">
              <a:lnSpc>
                <a:spcPts val="3111"/>
              </a:lnSpc>
              <a:buFont typeface="Arial"/>
              <a:buChar char="•"/>
            </a:pPr>
            <a:r>
              <a:rPr lang="en-US" sz="25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Add automated data collection</a:t>
            </a:r>
          </a:p>
          <a:p>
            <a:pPr algn="l" marL="333741" indent="-166871" lvl="1">
              <a:lnSpc>
                <a:spcPts val="3111"/>
              </a:lnSpc>
              <a:buFont typeface="Arial"/>
              <a:buChar char="•"/>
            </a:pPr>
            <a:r>
              <a:rPr lang="en-US" sz="259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Expand feature set (mental health history, support systems)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b="true" sz="3413" i="true" u="sng">
                  <a:solidFill>
                    <a:srgbClr val="2C3E5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Conclusion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9120" y="1464522"/>
            <a:ext cx="8595360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7"/>
              </a:lnSpc>
            </a:pPr>
          </a:p>
          <a:p>
            <a:pPr algn="l" marL="361196" indent="-180598" lvl="1">
              <a:lnSpc>
                <a:spcPts val="3367"/>
              </a:lnSpc>
              <a:buFont typeface="Arial"/>
              <a:buChar char="•"/>
            </a:pPr>
            <a:r>
              <a:rPr lang="en-US" sz="2806">
                <a:solidFill>
                  <a:srgbClr val="27AE60"/>
                </a:solidFill>
                <a:latin typeface="Calibri (MS)"/>
                <a:ea typeface="Calibri (MS)"/>
                <a:cs typeface="Calibri (MS)"/>
                <a:sym typeface="Calibri (MS)"/>
              </a:rPr>
              <a:t>✓ Successfully developed end-to-end ML pipeline</a:t>
            </a:r>
          </a:p>
          <a:p>
            <a:pPr algn="l" marL="361196" indent="-180598" lvl="1">
              <a:lnSpc>
                <a:spcPts val="3367"/>
              </a:lnSpc>
              <a:buFont typeface="Arial"/>
              <a:buChar char="•"/>
            </a:pPr>
            <a:r>
              <a:rPr lang="en-US" sz="2806">
                <a:solidFill>
                  <a:srgbClr val="27AE60"/>
                </a:solidFill>
                <a:latin typeface="Calibri (MS)"/>
                <a:ea typeface="Calibri (MS)"/>
                <a:cs typeface="Calibri (MS)"/>
                <a:sym typeface="Calibri (MS)"/>
              </a:rPr>
              <a:t>✓ Ensemble model achieves 91.36% accuracy</a:t>
            </a:r>
          </a:p>
          <a:p>
            <a:pPr algn="l" marL="361196" indent="-180598" lvl="1">
              <a:lnSpc>
                <a:spcPts val="3367"/>
              </a:lnSpc>
              <a:buFont typeface="Arial"/>
              <a:buChar char="•"/>
            </a:pPr>
            <a:r>
              <a:rPr lang="en-US" sz="2806">
                <a:solidFill>
                  <a:srgbClr val="27AE60"/>
                </a:solidFill>
                <a:latin typeface="Calibri (MS)"/>
                <a:ea typeface="Calibri (MS)"/>
                <a:cs typeface="Calibri (MS)"/>
                <a:sym typeface="Calibri (MS)"/>
              </a:rPr>
              <a:t>✓ Comprehensive comparison of 4 ML algorithms</a:t>
            </a:r>
          </a:p>
          <a:p>
            <a:pPr algn="l" marL="361196" indent="-180598" lvl="1">
              <a:lnSpc>
                <a:spcPts val="3367"/>
              </a:lnSpc>
              <a:buFont typeface="Arial"/>
              <a:buChar char="•"/>
            </a:pPr>
            <a:r>
              <a:rPr lang="en-US" sz="2806">
                <a:solidFill>
                  <a:srgbClr val="27AE60"/>
                </a:solidFill>
                <a:latin typeface="Calibri (MS)"/>
                <a:ea typeface="Calibri (MS)"/>
                <a:cs typeface="Calibri (MS)"/>
                <a:sym typeface="Calibri (MS)"/>
              </a:rPr>
              <a:t>✓ User-friendly web application deployed</a:t>
            </a:r>
          </a:p>
          <a:p>
            <a:pPr algn="l" marL="361196" indent="-180598" lvl="1">
              <a:lnSpc>
                <a:spcPts val="3367"/>
              </a:lnSpc>
              <a:buFont typeface="Arial"/>
              <a:buChar char="•"/>
            </a:pPr>
            <a:r>
              <a:rPr lang="en-US" sz="2806">
                <a:solidFill>
                  <a:srgbClr val="27AE60"/>
                </a:solidFill>
                <a:latin typeface="Calibri (MS)"/>
                <a:ea typeface="Calibri (MS)"/>
                <a:cs typeface="Calibri (MS)"/>
                <a:sym typeface="Calibri (MS)"/>
              </a:rPr>
              <a:t>✓ Actionable insights and recommendations provided</a:t>
            </a:r>
          </a:p>
          <a:p>
            <a:pPr algn="l" marL="388650" indent="-194325" lvl="1">
              <a:lnSpc>
                <a:spcPts val="3623"/>
              </a:lnSpc>
              <a:buFont typeface="Arial"/>
              <a:buChar char="•"/>
            </a:pPr>
            <a:r>
              <a:rPr lang="en-US" b="true" sz="3019">
                <a:solidFill>
                  <a:srgbClr val="3449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Ready for pilot deployment with real-world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DAG7TQM9hS0</dc:identifier>
  <dcterms:modified xsi:type="dcterms:W3CDTF">2011-08-01T06:04:30Z</dcterms:modified>
  <cp:revision>1</cp:revision>
  <dc:title>PROJECT_DECK.pptx</dc:title>
</cp:coreProperties>
</file>